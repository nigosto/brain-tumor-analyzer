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sldIdLst>
    <p:sldId id="256" r:id="rId5"/>
    <p:sldId id="277" r:id="rId6"/>
    <p:sldId id="278" r:id="rId7"/>
    <p:sldId id="279" r:id="rId8"/>
    <p:sldId id="281" r:id="rId9"/>
    <p:sldId id="282" r:id="rId10"/>
    <p:sldId id="280" r:id="rId11"/>
    <p:sldId id="283" r:id="rId12"/>
    <p:sldId id="284" r:id="rId13"/>
    <p:sldId id="285" r:id="rId14"/>
    <p:sldId id="28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anchor="b">
            <a:normAutofit fontScale="90000"/>
          </a:bodyPr>
          <a:lstStyle/>
          <a:p>
            <a:pPr algn="l"/>
            <a:r>
              <a:rPr lang="bg-BG" dirty="0">
                <a:solidFill>
                  <a:srgbClr val="FFFFFF"/>
                </a:solidFill>
              </a:rPr>
              <a:t>Модел за откриване на тумор в мозъка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rmAutofit/>
          </a:bodyPr>
          <a:lstStyle/>
          <a:p>
            <a:r>
              <a:rPr lang="bg-BG" dirty="0">
                <a:solidFill>
                  <a:srgbClr val="FFFFFF"/>
                </a:solidFill>
              </a:rPr>
              <a:t>Проект за курса Изкуствен интелект на Георги Атанасов, </a:t>
            </a:r>
            <a:r>
              <a:rPr lang="en-US" dirty="0">
                <a:solidFill>
                  <a:srgbClr val="FFFFFF"/>
                </a:solidFill>
              </a:rPr>
              <a:t>3MI0800092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bg-BG" dirty="0"/>
              <a:t>ЦЕл на проекта</a:t>
            </a:r>
            <a:endParaRPr lang="en-US" dirty="0"/>
          </a:p>
        </p:txBody>
      </p:sp>
      <p:pic>
        <p:nvPicPr>
          <p:cNvPr id="1026" name="Picture 2" descr="Doctor and patient looking at an MRI scan of the brain.">
            <a:extLst>
              <a:ext uri="{FF2B5EF4-FFF2-40B4-BE49-F238E27FC236}">
                <a16:creationId xmlns:a16="http://schemas.microsoft.com/office/drawing/2014/main" id="{F8C4A390-866C-09F8-EC37-7A6A7D7CA4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8" y="2294965"/>
            <a:ext cx="4879923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877168-E01D-8B13-35AB-AC164A7437CF}"/>
              </a:ext>
            </a:extLst>
          </p:cNvPr>
          <p:cNvSpPr txBox="1"/>
          <p:nvPr/>
        </p:nvSpPr>
        <p:spPr>
          <a:xfrm>
            <a:off x="6723529" y="2294965"/>
            <a:ext cx="47781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Целта на проекта е да се реализира и обучи модел, който да може по подадена снимка от ядрено-магнитен резонанс на мозък, да определи дали пациентът има тумор и ако да – какъв вид. </a:t>
            </a:r>
            <a:endParaRPr lang="bg-BG" dirty="0"/>
          </a:p>
          <a:p>
            <a:endParaRPr lang="bg-BG" dirty="0"/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Архитектурата на модела трябва да бъде реализирана без външни библиотеки и моделът трябва да може да се обучава в разумно време на потребителските машини, като в същото време постига максимална точност.</a:t>
            </a:r>
          </a:p>
        </p:txBody>
      </p:sp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DB5CB-FB66-38C2-7A06-0412DDF2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Възможни подходи за решение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CFA00-23B2-D583-8F0B-EE95D6607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6066954" cy="40233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bg-BG" dirty="0"/>
              <a:t>В основата на решението на проблема, стои алгоритъмът за разпознаване на изображение, като има различни опции за него, някои от които са: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bg-BG" dirty="0"/>
              <a:t>Алгоритми за компютърно зрение като </a:t>
            </a:r>
            <a:r>
              <a:rPr lang="en-US" i="1" dirty="0"/>
              <a:t>SIFT (Scale-Invariant Feature Transform)</a:t>
            </a:r>
            <a:endParaRPr lang="bg-BG" i="1" dirty="0"/>
          </a:p>
          <a:p>
            <a:pPr>
              <a:buFont typeface="Arial" panose="020B0604020202020204" pitchFamily="34" charset="0"/>
              <a:buChar char="•"/>
            </a:pPr>
            <a:r>
              <a:rPr lang="bg-BG" dirty="0"/>
              <a:t> </a:t>
            </a:r>
            <a:r>
              <a:rPr lang="en-US" i="1" dirty="0"/>
              <a:t>Feed-forward</a:t>
            </a:r>
            <a:r>
              <a:rPr lang="en-US" dirty="0"/>
              <a:t> </a:t>
            </a:r>
            <a:r>
              <a:rPr lang="bg-BG" dirty="0"/>
              <a:t>невронни мрежи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bg-BG" dirty="0"/>
              <a:t> Конволюционни невронни мрежи </a:t>
            </a:r>
            <a:r>
              <a:rPr lang="bg-BG" i="1" dirty="0"/>
              <a:t>(</a:t>
            </a:r>
            <a:r>
              <a:rPr lang="en-US" i="1" dirty="0"/>
              <a:t>Convolutional neural networks)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i="1" dirty="0"/>
              <a:t>XGBoost</a:t>
            </a:r>
            <a:r>
              <a:rPr lang="bg-BG" dirty="0"/>
              <a:t>, използващ някой от горните алгоритми и др.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ACF2F9-5D71-D1DB-351F-EBAFA4FB9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826" y="2421641"/>
            <a:ext cx="3505689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60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A2BA-CD21-3A14-DFF8-6421FAC6B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Избран подход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AA536-71A2-FC9E-A782-D91545044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1143000"/>
          </a:xfrm>
        </p:spPr>
        <p:txBody>
          <a:bodyPr/>
          <a:lstStyle/>
          <a:p>
            <a:r>
              <a:rPr lang="bg-B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 реализацията на проекта е използвана конволюционна невронна мрежа, понеже това е един утвърден модел в анализа на изображения, който от една страна е по-точен от обикновените невронни мрежи, но и също така не изисква толкова много системни ресурси, колкото останалите алгоритми.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F8E37F-EAFD-7B29-8BD6-3F5A306F74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101"/>
          <a:stretch/>
        </p:blipFill>
        <p:spPr>
          <a:xfrm>
            <a:off x="1007973" y="3423981"/>
            <a:ext cx="9752381" cy="323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057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6F7A7-E81F-7C5D-04D1-2491834F1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8876-6A41-449F-CB4E-C0A0411F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 работи конволюционния слой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8F9A79-E24A-091B-AC26-2F3F9E244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74" y="2000564"/>
            <a:ext cx="5852051" cy="427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252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90DFF-D517-4E47-5884-8BDD04699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89E59-F3E7-FE17-C9F1-E540E8B43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 работи обединяващия слой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15D39D-D75B-63F0-F142-5FD6447D5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435" y="2452386"/>
            <a:ext cx="7743457" cy="344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58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4FE99-5CAA-617C-4D46-A69E4DFD9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AF4E-A408-5C0A-BD24-DDDFDF1AF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Архитектура на модел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E7886-DD82-5563-390A-83F04FB03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17059"/>
            <a:ext cx="10477589" cy="457200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bg-B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 конволюционен слой с 4 филтъра с размери 3х3</a:t>
            </a:r>
            <a:r>
              <a:rPr lang="bg-BG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иползващ </a:t>
            </a:r>
            <a:r>
              <a:rPr lang="en-US" sz="1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ReLU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 активационна функция и Хи инициализация на теглата</a:t>
            </a:r>
          </a:p>
          <a:p>
            <a:pPr marL="342900" indent="-342900">
              <a:buFont typeface="+mj-lt"/>
              <a:buAutoNum type="arabicPeriod"/>
            </a:pPr>
            <a:r>
              <a:rPr lang="bg-B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 обединяващ слой,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bg-B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зпол</a:t>
            </a:r>
            <a:r>
              <a:rPr lang="bg-BG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зващ максимално обединяване,</a:t>
            </a:r>
            <a:r>
              <a:rPr lang="bg-B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размер на регионите 2х2 и отстояние между тях от 2 клетки</a:t>
            </a:r>
          </a:p>
          <a:p>
            <a:pPr marL="342900" indent="-342900">
              <a:buFont typeface="+mj-lt"/>
              <a:buAutoNum type="arabicPeriod"/>
            </a:pPr>
            <a:r>
              <a:rPr lang="bg-BG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Един изравняващ слой</a:t>
            </a:r>
          </a:p>
          <a:p>
            <a:pPr marL="342900" indent="-342900">
              <a:buFont typeface="+mj-lt"/>
              <a:buAutoNum type="arabicPeriod"/>
            </a:pPr>
            <a:r>
              <a:rPr lang="bg-B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 напълно свързан слой с 900 неврона и 4 изхода, изп</a:t>
            </a:r>
            <a:r>
              <a:rPr lang="bg-BG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олзващ </a:t>
            </a:r>
            <a:r>
              <a:rPr lang="en-US" sz="1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softmax </a:t>
            </a:r>
            <a:r>
              <a:rPr lang="bg-BG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 активационна функция и инициализация на Хавиер на теглата</a:t>
            </a:r>
          </a:p>
          <a:p>
            <a:pPr marL="0" indent="0">
              <a:buNone/>
            </a:pPr>
            <a:r>
              <a:rPr lang="bg-B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Обучението на модела се случва за 50 епохи с темпо на обучение 0.2, което обаче намалява със 75% на всеки 7 епохи</a:t>
            </a:r>
            <a:r>
              <a:rPr lang="bg-BG" sz="1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bg-B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Като допълнение, с цел намаляване на пренагаждането на модела към тренировъчните данни, при обратното разпространение на грешката в напълно свързания и конволюционния слой е използвана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bg-B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регуларизация. Също, на всяка епоха се пресмята загубата на ентропия, чрез която може да се прави анализ до колко моделът наистина се обучава.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116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C5449-BDBB-F444-7600-529E1ED11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C24B-2725-43C6-3E0D-59516AE4F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Получени резултати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D4771-FBD1-3483-F215-803A31799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017059"/>
            <a:ext cx="5071872" cy="4572000"/>
          </a:xfrm>
        </p:spPr>
        <p:txBody>
          <a:bodyPr>
            <a:normAutofit/>
          </a:bodyPr>
          <a:lstStyle/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направени експерименти с </a:t>
            </a:r>
            <a:r>
              <a:rPr lang="bg-B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32 тренировъчни изображения с размери 16х16, 20 епохи и темпо на обучение 0.7, точността на модела варира между 20% и 42%.</a:t>
            </a: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направени експерименти със 128</a:t>
            </a:r>
            <a:r>
              <a:rPr lang="bg-B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тренировъчни изображения с размери 16х16, 30 епохи и темпо на обучение 0.1, точността на модела е около 50%.</a:t>
            </a: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направени експерименти с </a:t>
            </a:r>
            <a:r>
              <a:rPr lang="bg-B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1024 тренировъчни изображения с размери 32х32, </a:t>
            </a:r>
            <a:r>
              <a:rPr lang="bg-BG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bg-B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 епохи и темпо на обучение 0.2, точността на модела варира между 71% и 77%, но времето за обучение нараства значително.</a:t>
            </a:r>
          </a:p>
          <a:p>
            <a:endParaRPr lang="bg-B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F6991B49-403D-11A1-5714-2DB03DDCB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452" y="2017059"/>
            <a:ext cx="3444419" cy="3444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510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CCC9-E76E-A705-DB56-7BA09E154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Примерна графика на промяна на загубата на ентропия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0AF599-2695-F02F-C13F-C7581B641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363" y="2084832"/>
            <a:ext cx="6255273" cy="4610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4183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9ABA-C921-005D-2CE0-69C970B3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Примерни резултати при употребата на обучения модел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C3415A-9040-B33B-DF5E-74012A77F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522" y="2152874"/>
            <a:ext cx="6007283" cy="47051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9280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BDE56D-360C-69FC-6E3A-5F1ED19E17A7}"/>
              </a:ext>
            </a:extLst>
          </p:cNvPr>
          <p:cNvSpPr txBox="1"/>
          <p:nvPr/>
        </p:nvSpPr>
        <p:spPr>
          <a:xfrm>
            <a:off x="2495943" y="2828835"/>
            <a:ext cx="72001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7200" dirty="0">
                <a:latin typeface="+mj-lt"/>
                <a:cs typeface="Times New Roman" panose="02020603050405020304" pitchFamily="18" charset="0"/>
              </a:rPr>
              <a:t>Време</a:t>
            </a:r>
            <a:r>
              <a:rPr lang="bg-BG" sz="6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bg-BG" sz="7200" dirty="0">
                <a:latin typeface="+mj-lt"/>
                <a:cs typeface="Times New Roman" panose="02020603050405020304" pitchFamily="18" charset="0"/>
              </a:rPr>
              <a:t>за въпроси</a:t>
            </a:r>
            <a:endParaRPr lang="en-US" sz="60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2333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55</TotalTime>
  <Words>472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Times New Roman</vt:lpstr>
      <vt:lpstr>Tw Cen MT</vt:lpstr>
      <vt:lpstr>Tw Cen MT Condensed</vt:lpstr>
      <vt:lpstr>Wingdings 3</vt:lpstr>
      <vt:lpstr>Integral</vt:lpstr>
      <vt:lpstr>Модел за откриване на тумор в мозъка</vt:lpstr>
      <vt:lpstr>ЦЕл на проекта</vt:lpstr>
      <vt:lpstr>Възможни подходи за решение</vt:lpstr>
      <vt:lpstr>Избран подход</vt:lpstr>
      <vt:lpstr>Как работи конволюционния слой</vt:lpstr>
      <vt:lpstr>Как работи обединяващия слой</vt:lpstr>
      <vt:lpstr>Архитектура на модел</vt:lpstr>
      <vt:lpstr>Получени резултати</vt:lpstr>
      <vt:lpstr>Примерна графика на промяна на загубата на ентропия</vt:lpstr>
      <vt:lpstr>Примерни резултати при употребата на обучения модел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Георги Атанасов</dc:creator>
  <cp:lastModifiedBy>Георги Атанасов</cp:lastModifiedBy>
  <cp:revision>1</cp:revision>
  <dcterms:created xsi:type="dcterms:W3CDTF">2025-01-30T09:30:48Z</dcterms:created>
  <dcterms:modified xsi:type="dcterms:W3CDTF">2025-01-30T10:25:54Z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